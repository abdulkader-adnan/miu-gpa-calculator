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lacial Indifference Bold" charset="1" panose="00000800000000000000"/>
      <p:regular r:id="rId24"/>
    </p:embeddedFont>
    <p:embeddedFont>
      <p:font typeface="Glacial Indifference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4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gif" Type="http://schemas.openxmlformats.org/officeDocument/2006/relationships/image"/><Relationship Id="rId3" Target="../media/image9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gif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6895">
            <a:off x="12080413" y="1498262"/>
            <a:ext cx="6519337" cy="720368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0535676" y="267742"/>
            <a:ext cx="2000894" cy="319226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-578884">
            <a:off x="10863146" y="7213683"/>
            <a:ext cx="1560127" cy="148370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4015499" y="8931190"/>
            <a:ext cx="5920273" cy="177608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1870473"/>
            <a:ext cx="8542321" cy="508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76"/>
              </a:lnSpc>
            </a:pPr>
            <a:r>
              <a:rPr lang="en-US" sz="10396" spc="-218">
                <a:solidFill>
                  <a:srgbClr val="FFFFFE"/>
                </a:solidFill>
                <a:latin typeface="Glacial Indifference Bold"/>
              </a:rPr>
              <a:t>MIU Computer science Gpa calculator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858" y="8207290"/>
            <a:ext cx="8304615" cy="105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2202" spc="-46">
                <a:solidFill>
                  <a:srgbClr val="FFFFFE"/>
                </a:solidFill>
                <a:latin typeface="Glacial Indifference"/>
              </a:rPr>
              <a:t>Abdelrahman Refaey 2023/05260</a:t>
            </a:r>
          </a:p>
          <a:p>
            <a:pPr algn="l">
              <a:lnSpc>
                <a:spcPts val="2092"/>
              </a:lnSpc>
            </a:pPr>
            <a:r>
              <a:rPr lang="en-US" sz="2202" spc="-46">
                <a:solidFill>
                  <a:srgbClr val="FFFFFE"/>
                </a:solidFill>
                <a:latin typeface="Glacial Indifference"/>
              </a:rPr>
              <a:t>Abdulkader Adnan 2023/07019</a:t>
            </a:r>
          </a:p>
          <a:p>
            <a:pPr algn="l">
              <a:lnSpc>
                <a:spcPts val="2092"/>
              </a:lnSpc>
            </a:pPr>
            <a:r>
              <a:rPr lang="en-US" sz="2202" spc="-46">
                <a:solidFill>
                  <a:srgbClr val="FFFFFE"/>
                </a:solidFill>
                <a:latin typeface="Glacial Indifference"/>
              </a:rPr>
              <a:t>Ali Mohamed 2023/06123</a:t>
            </a:r>
          </a:p>
          <a:p>
            <a:pPr algn="l">
              <a:lnSpc>
                <a:spcPts val="2092"/>
              </a:lnSpc>
            </a:pPr>
            <a:r>
              <a:rPr lang="en-US" sz="2202" spc="-46">
                <a:solidFill>
                  <a:srgbClr val="FFFFFE"/>
                </a:solidFill>
                <a:latin typeface="Glacial Indifference"/>
              </a:rPr>
              <a:t>Omar Ehab   2023/06195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629812"/>
            <a:ext cx="7386125" cy="27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2202" spc="-46">
                <a:solidFill>
                  <a:srgbClr val="FFFFFE"/>
                </a:solidFill>
                <a:latin typeface="Glacial Indifference Bold"/>
              </a:rPr>
              <a:t>Presenters: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948175" y="871260"/>
            <a:ext cx="11196735" cy="8229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07228" y="2505933"/>
            <a:ext cx="10722796" cy="619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4360" spc="-91">
                <a:solidFill>
                  <a:srgbClr val="FFFFFE"/>
                </a:solidFill>
                <a:latin typeface="Glacial Indifference"/>
              </a:rPr>
              <a:t>MIU GPA Calculater has two features:</a:t>
            </a:r>
          </a:p>
          <a:p>
            <a:pPr algn="l">
              <a:lnSpc>
                <a:spcPts val="5364"/>
              </a:lnSpc>
            </a:pPr>
          </a:p>
          <a:p>
            <a:pPr algn="l">
              <a:lnSpc>
                <a:spcPts val="5364"/>
              </a:lnSpc>
            </a:pPr>
            <a:r>
              <a:rPr lang="en-US" sz="3831" spc="-80">
                <a:solidFill>
                  <a:srgbClr val="FFFFFE"/>
                </a:solidFill>
                <a:latin typeface="Glacial Indifference"/>
              </a:rPr>
              <a:t>1.</a:t>
            </a:r>
            <a:r>
              <a:rPr lang="en-US" sz="3831" spc="-80">
                <a:solidFill>
                  <a:srgbClr val="FFFFFE"/>
                </a:solidFill>
                <a:latin typeface="Glacial Indifference Bold"/>
              </a:rPr>
              <a:t>Admin Feature:</a:t>
            </a:r>
            <a:r>
              <a:rPr lang="en-US" sz="3831" spc="-80">
                <a:solidFill>
                  <a:srgbClr val="FFFFFE"/>
                </a:solidFill>
                <a:latin typeface="Glacial Indifference"/>
              </a:rPr>
              <a:t> </a:t>
            </a:r>
          </a:p>
          <a:p>
            <a:pPr algn="l" marL="827284" indent="-413642" lvl="1">
              <a:lnSpc>
                <a:spcPts val="5364"/>
              </a:lnSpc>
              <a:buFont typeface="Arial"/>
              <a:buChar char="•"/>
            </a:pPr>
            <a:r>
              <a:rPr lang="en-US" sz="3831" spc="-80">
                <a:solidFill>
                  <a:srgbClr val="FFFFFE"/>
                </a:solidFill>
                <a:latin typeface="Glacial Indifference"/>
              </a:rPr>
              <a:t>Enter scores.</a:t>
            </a:r>
          </a:p>
          <a:p>
            <a:pPr algn="l">
              <a:lnSpc>
                <a:spcPts val="5364"/>
              </a:lnSpc>
            </a:pPr>
          </a:p>
          <a:p>
            <a:pPr algn="l">
              <a:lnSpc>
                <a:spcPts val="5364"/>
              </a:lnSpc>
            </a:pPr>
          </a:p>
          <a:p>
            <a:pPr algn="l">
              <a:lnSpc>
                <a:spcPts val="5364"/>
              </a:lnSpc>
            </a:pPr>
            <a:r>
              <a:rPr lang="en-US" sz="3831" spc="-80">
                <a:solidFill>
                  <a:srgbClr val="FFFFFE"/>
                </a:solidFill>
                <a:latin typeface="Glacial Indifference"/>
              </a:rPr>
              <a:t>2.</a:t>
            </a:r>
            <a:r>
              <a:rPr lang="en-US" sz="3831" spc="-80">
                <a:solidFill>
                  <a:srgbClr val="FFFFFE"/>
                </a:solidFill>
                <a:latin typeface="Glacial Indifference Bold"/>
              </a:rPr>
              <a:t>Student Feature</a:t>
            </a:r>
            <a:r>
              <a:rPr lang="en-US" sz="3831" spc="-80">
                <a:solidFill>
                  <a:srgbClr val="FFFFFE"/>
                </a:solidFill>
                <a:latin typeface="Glacial Indifference"/>
              </a:rPr>
              <a:t>:</a:t>
            </a:r>
          </a:p>
          <a:p>
            <a:pPr algn="l" marL="827284" indent="-413642" lvl="1">
              <a:lnSpc>
                <a:spcPts val="5364"/>
              </a:lnSpc>
              <a:buFont typeface="Arial"/>
              <a:buChar char="•"/>
            </a:pPr>
            <a:r>
              <a:rPr lang="en-US" sz="3831" spc="-80">
                <a:solidFill>
                  <a:srgbClr val="FFFFFE"/>
                </a:solidFill>
                <a:latin typeface="Glacial Indifference"/>
              </a:rPr>
              <a:t>  view transcript.</a:t>
            </a:r>
          </a:p>
          <a:p>
            <a:pPr algn="l" marL="827284" indent="-413642" lvl="1">
              <a:lnSpc>
                <a:spcPts val="5364"/>
              </a:lnSpc>
              <a:buFont typeface="Arial"/>
              <a:buChar char="•"/>
            </a:pPr>
            <a:r>
              <a:rPr lang="en-US" sz="3831" spc="-80">
                <a:solidFill>
                  <a:srgbClr val="FFFFFE"/>
                </a:solidFill>
                <a:latin typeface="Glacial Indifference"/>
              </a:rPr>
              <a:t>  calculate gpa.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43000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86140" y="7612701"/>
            <a:ext cx="3505562" cy="78875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2821432"/>
            <a:ext cx="8115300" cy="448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</a:rPr>
              <a:t>Architecture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</a:rPr>
              <a:t>Description of each function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</a:rPr>
              <a:t>Menu Functions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</a:rPr>
              <a:t>Instructions for running the program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</a:rPr>
              <a:t>Input Files</a:t>
            </a:r>
          </a:p>
          <a:p>
            <a:pPr algn="l" marL="626111" indent="-313055" lvl="1">
              <a:lnSpc>
                <a:spcPts val="5162"/>
              </a:lnSpc>
              <a:buFont typeface="Arial"/>
              <a:buChar char="•"/>
            </a:pPr>
            <a:r>
              <a:rPr lang="en-US" sz="2900" spc="-60">
                <a:solidFill>
                  <a:srgbClr val="FFFFFE"/>
                </a:solidFill>
                <a:latin typeface="Glacial Indifference"/>
              </a:rPr>
              <a:t>Sample Input/output</a:t>
            </a:r>
          </a:p>
          <a:p>
            <a:pPr algn="l">
              <a:lnSpc>
                <a:spcPts val="516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43000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95124" y="1028700"/>
            <a:ext cx="2006017" cy="197651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279628">
            <a:off x="925011" y="787898"/>
            <a:ext cx="2006017" cy="197651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15268033" y="7495829"/>
            <a:ext cx="2006017" cy="197651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10085">
            <a:off x="930756" y="7255890"/>
            <a:ext cx="2006017" cy="197651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16465" y="3010863"/>
            <a:ext cx="13655071" cy="497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2"/>
              </a:lnSpc>
            </a:pPr>
            <a:r>
              <a:rPr lang="en-US" sz="4065" spc="-85">
                <a:solidFill>
                  <a:srgbClr val="FFFFFE"/>
                </a:solidFill>
                <a:latin typeface="Glacial Indifference Bold"/>
              </a:rPr>
              <a:t>Attributes:</a:t>
            </a:r>
          </a:p>
          <a:p>
            <a:pPr algn="l" marL="877829" indent="-438915" lvl="1">
              <a:lnSpc>
                <a:spcPts val="5692"/>
              </a:lnSpc>
              <a:buFont typeface="Arial"/>
              <a:buChar char="•"/>
            </a:pPr>
            <a:r>
              <a:rPr lang="en-US" sz="4065" spc="-85">
                <a:solidFill>
                  <a:srgbClr val="FFFFFE"/>
                </a:solidFill>
                <a:latin typeface="Glacial Indifference"/>
              </a:rPr>
              <a:t>string courseName: coures’ name.</a:t>
            </a:r>
          </a:p>
          <a:p>
            <a:pPr algn="l" marL="877829" indent="-438915" lvl="1">
              <a:lnSpc>
                <a:spcPts val="5692"/>
              </a:lnSpc>
              <a:buFont typeface="Arial"/>
              <a:buChar char="•"/>
            </a:pPr>
            <a:r>
              <a:rPr lang="en-US" sz="4065" spc="-85">
                <a:solidFill>
                  <a:srgbClr val="FFFFFE"/>
                </a:solidFill>
                <a:latin typeface="Glacial Indifference"/>
              </a:rPr>
              <a:t>int creditHours: credit hours number of the course.</a:t>
            </a:r>
          </a:p>
          <a:p>
            <a:pPr algn="l" marL="877829" indent="-438915" lvl="1">
              <a:lnSpc>
                <a:spcPts val="5692"/>
              </a:lnSpc>
              <a:buFont typeface="Arial"/>
              <a:buChar char="•"/>
            </a:pPr>
            <a:r>
              <a:rPr lang="en-US" sz="4065" spc="-85">
                <a:solidFill>
                  <a:srgbClr val="FFFFFE"/>
                </a:solidFill>
                <a:latin typeface="Glacial Indifference"/>
              </a:rPr>
              <a:t>double score: student score obtained in specefic course.</a:t>
            </a:r>
          </a:p>
          <a:p>
            <a:pPr algn="l" marL="877829" indent="-438915" lvl="1">
              <a:lnSpc>
                <a:spcPts val="5692"/>
              </a:lnSpc>
              <a:buFont typeface="Arial"/>
              <a:buChar char="•"/>
            </a:pPr>
            <a:r>
              <a:rPr lang="en-US" sz="4065" spc="-85">
                <a:solidFill>
                  <a:srgbClr val="FFFFFE"/>
                </a:solidFill>
                <a:latin typeface="Glacial Indifference"/>
              </a:rPr>
              <a:t>double gradePoint:  grade point of score.</a:t>
            </a:r>
          </a:p>
          <a:p>
            <a:pPr algn="l" marL="877829" indent="-438915" lvl="1">
              <a:lnSpc>
                <a:spcPts val="5692"/>
              </a:lnSpc>
              <a:buFont typeface="Arial"/>
              <a:buChar char="•"/>
            </a:pPr>
            <a:r>
              <a:rPr lang="en-US" sz="4065" spc="-85">
                <a:solidFill>
                  <a:srgbClr val="FFFFFE"/>
                </a:solidFill>
                <a:latin typeface="Glacial Indifference"/>
              </a:rPr>
              <a:t>string letterGrade: letter grade of to the score.</a:t>
            </a:r>
          </a:p>
          <a:p>
            <a:pPr algn="l">
              <a:lnSpc>
                <a:spcPts val="569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236069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Course Class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95124" y="1028700"/>
            <a:ext cx="2006017" cy="197651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279628">
            <a:off x="925011" y="787898"/>
            <a:ext cx="2006017" cy="197651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15268033" y="7495829"/>
            <a:ext cx="2006017" cy="197651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10085">
            <a:off x="930756" y="7255890"/>
            <a:ext cx="2006017" cy="197651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50350" y="3023010"/>
            <a:ext cx="13587300" cy="497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4"/>
              </a:lnSpc>
            </a:pPr>
            <a:r>
              <a:rPr lang="en-US" sz="4045" spc="-84">
                <a:solidFill>
                  <a:srgbClr val="FFFFFE"/>
                </a:solidFill>
                <a:latin typeface="Glacial Indifference Bold"/>
              </a:rPr>
              <a:t>Functions:</a:t>
            </a:r>
          </a:p>
          <a:p>
            <a:pPr algn="l" marL="873474" indent="-436737" lvl="1">
              <a:lnSpc>
                <a:spcPts val="5664"/>
              </a:lnSpc>
              <a:buFont typeface="Arial"/>
              <a:buChar char="•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Course(</a:t>
            </a: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string name = "", int credits = 0)</a:t>
            </a:r>
          </a:p>
          <a:p>
            <a:pPr algn="l" marL="1746947" indent="-582316" lvl="2">
              <a:lnSpc>
                <a:spcPts val="5664"/>
              </a:lnSpc>
              <a:buFont typeface="Arial"/>
              <a:buChar char="⚬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initialize a course with a name and credit hours.</a:t>
            </a:r>
          </a:p>
          <a:p>
            <a:pPr algn="l" marL="873474" indent="-436737" lvl="1">
              <a:lnSpc>
                <a:spcPts val="5664"/>
              </a:lnSpc>
              <a:buFont typeface="Arial"/>
              <a:buChar char="•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voi</a:t>
            </a: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d computeGradePoint()</a:t>
            </a:r>
          </a:p>
          <a:p>
            <a:pPr algn="l" marL="1746947" indent="-582316" lvl="2">
              <a:lnSpc>
                <a:spcPts val="5664"/>
              </a:lnSpc>
              <a:buFont typeface="Arial"/>
              <a:buChar char="⚬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calculate </a:t>
            </a: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the grade point and letter grade according to the score.</a:t>
            </a:r>
          </a:p>
          <a:p>
            <a:pPr algn="l">
              <a:lnSpc>
                <a:spcPts val="56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236069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Course Class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95124" y="1028700"/>
            <a:ext cx="2006017" cy="197651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279628">
            <a:off x="925011" y="787898"/>
            <a:ext cx="2006017" cy="197651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15268033" y="7495829"/>
            <a:ext cx="2006017" cy="197651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10085">
            <a:off x="930756" y="7255890"/>
            <a:ext cx="2006017" cy="197651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50350" y="3023010"/>
            <a:ext cx="13587300" cy="4259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4"/>
              </a:lnSpc>
            </a:pPr>
            <a:r>
              <a:rPr lang="en-US" sz="4045" spc="-84">
                <a:solidFill>
                  <a:srgbClr val="FFFFFE"/>
                </a:solidFill>
                <a:latin typeface="Glacial Indifference Bold"/>
              </a:rPr>
              <a:t>Attributes:</a:t>
            </a:r>
          </a:p>
          <a:p>
            <a:pPr algn="l" marL="873474" indent="-436737" lvl="1">
              <a:lnSpc>
                <a:spcPts val="5664"/>
              </a:lnSpc>
              <a:buFont typeface="Arial"/>
              <a:buChar char="•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Course courses[MAX_COURSES]:  array to store courses in the semester.</a:t>
            </a:r>
          </a:p>
          <a:p>
            <a:pPr algn="l" marL="873474" indent="-436737" lvl="1">
              <a:lnSpc>
                <a:spcPts val="5664"/>
              </a:lnSpc>
              <a:buFont typeface="Arial"/>
              <a:buChar char="•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int courseCount:  number of courses in the semester.</a:t>
            </a:r>
          </a:p>
          <a:p>
            <a:pPr algn="l">
              <a:lnSpc>
                <a:spcPts val="5664"/>
              </a:lnSpc>
            </a:pPr>
          </a:p>
          <a:p>
            <a:pPr algn="l">
              <a:lnSpc>
                <a:spcPts val="56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236069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Semester Class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95124" y="1028700"/>
            <a:ext cx="2006017" cy="197651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279628">
            <a:off x="925011" y="787898"/>
            <a:ext cx="2006017" cy="197651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15268033" y="7495829"/>
            <a:ext cx="2006017" cy="197651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10085">
            <a:off x="930756" y="7255890"/>
            <a:ext cx="2006017" cy="197651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683741" y="2736947"/>
            <a:ext cx="13587300" cy="568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4"/>
              </a:lnSpc>
            </a:pPr>
            <a:r>
              <a:rPr lang="en-US" sz="4045" spc="-84">
                <a:solidFill>
                  <a:srgbClr val="FFFFFE"/>
                </a:solidFill>
                <a:latin typeface="Glacial Indifference Bold"/>
              </a:rPr>
              <a:t>Functions:</a:t>
            </a:r>
          </a:p>
          <a:p>
            <a:pPr algn="l" marL="873474" indent="-436737" lvl="1">
              <a:lnSpc>
                <a:spcPts val="5664"/>
              </a:lnSpc>
              <a:buFont typeface="Arial"/>
              <a:buChar char="•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Semester()</a:t>
            </a:r>
          </a:p>
          <a:p>
            <a:pPr algn="l">
              <a:lnSpc>
                <a:spcPts val="5664"/>
              </a:lnSpc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 initialize a semester with zero courses.</a:t>
            </a:r>
          </a:p>
          <a:p>
            <a:pPr algn="l" marL="873474" indent="-436737" lvl="1">
              <a:lnSpc>
                <a:spcPts val="5664"/>
              </a:lnSpc>
              <a:buFont typeface="Arial"/>
              <a:buChar char="•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void addCourse(const Course&amp; course)</a:t>
            </a:r>
          </a:p>
          <a:p>
            <a:pPr algn="l">
              <a:lnSpc>
                <a:spcPts val="5664"/>
              </a:lnSpc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Add a course to the semester .</a:t>
            </a:r>
          </a:p>
          <a:p>
            <a:pPr algn="l">
              <a:lnSpc>
                <a:spcPts val="5664"/>
              </a:lnSpc>
            </a:pPr>
          </a:p>
          <a:p>
            <a:pPr algn="l">
              <a:lnSpc>
                <a:spcPts val="5664"/>
              </a:lnSpc>
            </a:pPr>
          </a:p>
          <a:p>
            <a:pPr algn="l">
              <a:lnSpc>
                <a:spcPts val="56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236069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Semester Class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95124" y="1028700"/>
            <a:ext cx="2006017" cy="197651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279628">
            <a:off x="925011" y="787898"/>
            <a:ext cx="2006017" cy="197651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15268033" y="7495829"/>
            <a:ext cx="2006017" cy="197651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10085">
            <a:off x="930756" y="7255890"/>
            <a:ext cx="2006017" cy="197651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187949" y="3124958"/>
            <a:ext cx="13587300" cy="640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4"/>
              </a:lnSpc>
            </a:pPr>
            <a:r>
              <a:rPr lang="en-US" sz="4045" spc="-84">
                <a:solidFill>
                  <a:srgbClr val="FFFFFE"/>
                </a:solidFill>
                <a:latin typeface="Glacial Indifference Bold"/>
              </a:rPr>
              <a:t>Arrtiributes:</a:t>
            </a:r>
          </a:p>
          <a:p>
            <a:pPr algn="l" marL="873474" indent="-436737" lvl="1">
              <a:lnSpc>
                <a:spcPts val="5664"/>
              </a:lnSpc>
              <a:buFont typeface="Arial"/>
              <a:buChar char="•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string id: Student's ID.</a:t>
            </a:r>
          </a:p>
          <a:p>
            <a:pPr algn="l" marL="873474" indent="-436737" lvl="1">
              <a:lnSpc>
                <a:spcPts val="5664"/>
              </a:lnSpc>
              <a:buFont typeface="Arial"/>
              <a:buChar char="•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Semester semesters[MAX_SEMESTERS]: An array to store semesters.</a:t>
            </a:r>
          </a:p>
          <a:p>
            <a:pPr algn="l" marL="873474" indent="-436737" lvl="1">
              <a:lnSpc>
                <a:spcPts val="5664"/>
              </a:lnSpc>
              <a:buFont typeface="Arial"/>
              <a:buChar char="•"/>
            </a:pPr>
            <a:r>
              <a:rPr lang="en-US" sz="4045" spc="-84">
                <a:solidFill>
                  <a:srgbClr val="FFFFFE"/>
                </a:solidFill>
                <a:latin typeface="Glacial Indifference"/>
              </a:rPr>
              <a:t>int semesterCount: The number of semesters.</a:t>
            </a:r>
          </a:p>
          <a:p>
            <a:pPr algn="l">
              <a:lnSpc>
                <a:spcPts val="5664"/>
              </a:lnSpc>
            </a:pPr>
          </a:p>
          <a:p>
            <a:pPr algn="l">
              <a:lnSpc>
                <a:spcPts val="5664"/>
              </a:lnSpc>
            </a:pPr>
          </a:p>
          <a:p>
            <a:pPr algn="l">
              <a:lnSpc>
                <a:spcPts val="5664"/>
              </a:lnSpc>
            </a:pPr>
          </a:p>
          <a:p>
            <a:pPr algn="l">
              <a:lnSpc>
                <a:spcPts val="56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236069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Student Class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95124" y="1028700"/>
            <a:ext cx="2006017" cy="197651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279628">
            <a:off x="925011" y="787898"/>
            <a:ext cx="2006017" cy="197651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15268033" y="7495829"/>
            <a:ext cx="2006017" cy="197651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10085">
            <a:off x="930756" y="7255890"/>
            <a:ext cx="2006017" cy="197651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758307" y="3178498"/>
            <a:ext cx="10771387" cy="728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</a:pPr>
            <a:r>
              <a:rPr lang="en-US" sz="3207" spc="-67">
                <a:solidFill>
                  <a:srgbClr val="FFFFFE"/>
                </a:solidFill>
                <a:latin typeface="Glacial Indifference Bold"/>
              </a:rPr>
              <a:t> Functions:</a:t>
            </a:r>
          </a:p>
          <a:p>
            <a:pPr algn="l" marL="692450" indent="-346225" lvl="1">
              <a:lnSpc>
                <a:spcPts val="4490"/>
              </a:lnSpc>
              <a:buFont typeface="Arial"/>
              <a:buChar char="•"/>
            </a:pPr>
            <a:r>
              <a:rPr lang="en-US" sz="3207" spc="-67">
                <a:solidFill>
                  <a:srgbClr val="FFFFFE"/>
                </a:solidFill>
                <a:latin typeface="Glacial Indifference"/>
              </a:rPr>
              <a:t>Student(string studentId = "")</a:t>
            </a:r>
          </a:p>
          <a:p>
            <a:pPr algn="l" marL="1384899" indent="-461633" lvl="2">
              <a:lnSpc>
                <a:spcPts val="4490"/>
              </a:lnSpc>
              <a:buFont typeface="Arial"/>
              <a:buChar char="⚬"/>
            </a:pPr>
            <a:r>
              <a:rPr lang="en-US" sz="3207" spc="-67">
                <a:solidFill>
                  <a:srgbClr val="FFFFFE"/>
                </a:solidFill>
                <a:latin typeface="Glacial Indifference"/>
              </a:rPr>
              <a:t> initialize a student with an ID and zero semesters.</a:t>
            </a:r>
          </a:p>
          <a:p>
            <a:pPr algn="l" marL="692450" indent="-346225" lvl="1">
              <a:lnSpc>
                <a:spcPts val="4490"/>
              </a:lnSpc>
              <a:buFont typeface="Arial"/>
              <a:buChar char="•"/>
            </a:pPr>
            <a:r>
              <a:rPr lang="en-US" sz="3207" spc="-67">
                <a:solidFill>
                  <a:srgbClr val="FFFFFE"/>
                </a:solidFill>
                <a:latin typeface="Glacial Indifference"/>
              </a:rPr>
              <a:t>void addCourse(int semester, const Course&amp; course)</a:t>
            </a:r>
          </a:p>
          <a:p>
            <a:pPr algn="l" marL="1384899" indent="-461633" lvl="2">
              <a:lnSpc>
                <a:spcPts val="4490"/>
              </a:lnSpc>
              <a:buFont typeface="Arial"/>
              <a:buChar char="⚬"/>
            </a:pPr>
            <a:r>
              <a:rPr lang="en-US" sz="3207" spc="-67">
                <a:solidFill>
                  <a:srgbClr val="FFFFFE"/>
                </a:solidFill>
                <a:latin typeface="Glacial Indifference"/>
              </a:rPr>
              <a:t>Adds a course to the specified semester.</a:t>
            </a:r>
          </a:p>
          <a:p>
            <a:pPr algn="l" marL="692450" indent="-346225" lvl="1">
              <a:lnSpc>
                <a:spcPts val="4490"/>
              </a:lnSpc>
              <a:buFont typeface="Arial"/>
              <a:buChar char="•"/>
            </a:pPr>
            <a:r>
              <a:rPr lang="en-US" sz="3207" spc="-67">
                <a:solidFill>
                  <a:srgbClr val="FFFFFE"/>
                </a:solidFill>
                <a:latin typeface="Glacial Indifference"/>
              </a:rPr>
              <a:t>void enterScore(int semester, string courseName, double score)</a:t>
            </a:r>
          </a:p>
          <a:p>
            <a:pPr algn="l" marL="1384899" indent="-461633" lvl="2">
              <a:lnSpc>
                <a:spcPts val="4490"/>
              </a:lnSpc>
              <a:buFont typeface="Arial"/>
              <a:buChar char="⚬"/>
            </a:pPr>
            <a:r>
              <a:rPr lang="en-US" sz="3207" spc="-67">
                <a:solidFill>
                  <a:srgbClr val="FFFFFE"/>
                </a:solidFill>
                <a:latin typeface="Glacial Indifference"/>
              </a:rPr>
              <a:t>Enters the score for a specified course in the specified semester and computes the grade point.</a:t>
            </a:r>
          </a:p>
          <a:p>
            <a:pPr algn="l">
              <a:lnSpc>
                <a:spcPts val="4490"/>
              </a:lnSpc>
            </a:pPr>
          </a:p>
          <a:p>
            <a:pPr algn="l">
              <a:lnSpc>
                <a:spcPts val="4490"/>
              </a:lnSpc>
            </a:pPr>
          </a:p>
          <a:p>
            <a:pPr algn="l">
              <a:lnSpc>
                <a:spcPts val="4490"/>
              </a:lnSpc>
            </a:pPr>
          </a:p>
          <a:p>
            <a:pPr algn="l">
              <a:lnSpc>
                <a:spcPts val="449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236069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Student Class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95124" y="1028700"/>
            <a:ext cx="2006017" cy="197651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279628">
            <a:off x="925011" y="787898"/>
            <a:ext cx="2006017" cy="197651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15268033" y="7495829"/>
            <a:ext cx="2006017" cy="197651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10085">
            <a:off x="930756" y="7255890"/>
            <a:ext cx="2006017" cy="197651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962275" y="3230264"/>
            <a:ext cx="11536422" cy="7874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3435" spc="-72">
                <a:solidFill>
                  <a:srgbClr val="FFFFFE"/>
                </a:solidFill>
                <a:latin typeface="Glacial Indifference Bold"/>
              </a:rPr>
              <a:t> Functions:</a:t>
            </a:r>
          </a:p>
          <a:p>
            <a:pPr algn="l" marL="741631" indent="-370815" lvl="1">
              <a:lnSpc>
                <a:spcPts val="4809"/>
              </a:lnSpc>
              <a:buFont typeface="Arial"/>
              <a:buChar char="•"/>
            </a:pPr>
            <a:r>
              <a:rPr lang="en-US" sz="3435" spc="-72">
                <a:solidFill>
                  <a:srgbClr val="FFFFFE"/>
                </a:solidFill>
                <a:latin typeface="Glacial Indifference Semi-Bold"/>
              </a:rPr>
              <a:t>double computeGPA(int semester)</a:t>
            </a:r>
          </a:p>
          <a:p>
            <a:pPr algn="l">
              <a:lnSpc>
                <a:spcPts val="4809"/>
              </a:lnSpc>
            </a:pPr>
            <a:r>
              <a:rPr lang="en-US" sz="3435" spc="-72">
                <a:solidFill>
                  <a:srgbClr val="FFFFFE"/>
                </a:solidFill>
                <a:latin typeface="Glacial Indifference"/>
              </a:rPr>
              <a:t>Computes the GPA for the specified semester.</a:t>
            </a:r>
          </a:p>
          <a:p>
            <a:pPr algn="l" marL="741631" indent="-370815" lvl="1">
              <a:lnSpc>
                <a:spcPts val="4809"/>
              </a:lnSpc>
              <a:buFont typeface="Arial"/>
              <a:buChar char="•"/>
            </a:pPr>
            <a:r>
              <a:rPr lang="en-US" sz="3435" spc="-72">
                <a:solidFill>
                  <a:srgbClr val="FFFFFE"/>
                </a:solidFill>
                <a:latin typeface="Glacial Indifference Semi-Bold"/>
              </a:rPr>
              <a:t>double computeCumulativeGPA()</a:t>
            </a:r>
          </a:p>
          <a:p>
            <a:pPr algn="l">
              <a:lnSpc>
                <a:spcPts val="4809"/>
              </a:lnSpc>
            </a:pPr>
            <a:r>
              <a:rPr lang="en-US" sz="3435" spc="-72">
                <a:solidFill>
                  <a:srgbClr val="FFFFFE"/>
                </a:solidFill>
                <a:latin typeface="Glacial Indifference"/>
              </a:rPr>
              <a:t>Computes the cumulative GPA across all semesters.</a:t>
            </a:r>
          </a:p>
          <a:p>
            <a:pPr algn="l" marL="741631" indent="-370815" lvl="1">
              <a:lnSpc>
                <a:spcPts val="4809"/>
              </a:lnSpc>
              <a:buFont typeface="Arial"/>
              <a:buChar char="•"/>
            </a:pPr>
            <a:r>
              <a:rPr lang="en-US" sz="3435" spc="-72">
                <a:solidFill>
                  <a:srgbClr val="FFFFFE"/>
                </a:solidFill>
                <a:latin typeface="Glacial Indifference Semi-Bold"/>
              </a:rPr>
              <a:t>void printTranscript()</a:t>
            </a:r>
          </a:p>
          <a:p>
            <a:pPr algn="l">
              <a:lnSpc>
                <a:spcPts val="4809"/>
              </a:lnSpc>
            </a:pPr>
            <a:r>
              <a:rPr lang="en-US" sz="3435" spc="-72">
                <a:solidFill>
                  <a:srgbClr val="FFFFFE"/>
                </a:solidFill>
                <a:latin typeface="Glacial Indifference"/>
              </a:rPr>
              <a:t>Prints the transcript for the student, including details of each course, GPA for each semester, and cumulative GPA.</a:t>
            </a:r>
          </a:p>
          <a:p>
            <a:pPr algn="l">
              <a:lnSpc>
                <a:spcPts val="4809"/>
              </a:lnSpc>
            </a:pPr>
          </a:p>
          <a:p>
            <a:pPr algn="l">
              <a:lnSpc>
                <a:spcPts val="4809"/>
              </a:lnSpc>
            </a:pPr>
          </a:p>
          <a:p>
            <a:pPr algn="l">
              <a:lnSpc>
                <a:spcPts val="4809"/>
              </a:lnSpc>
            </a:pPr>
          </a:p>
          <a:p>
            <a:pPr algn="l">
              <a:lnSpc>
                <a:spcPts val="4809"/>
              </a:lnSpc>
            </a:pPr>
          </a:p>
          <a:p>
            <a:pPr algn="l">
              <a:lnSpc>
                <a:spcPts val="480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236069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Student Class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95124" y="1028700"/>
            <a:ext cx="2006017" cy="197651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279628">
            <a:off x="925011" y="787898"/>
            <a:ext cx="2006017" cy="197651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15268033" y="7495829"/>
            <a:ext cx="2006017" cy="197651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10085">
            <a:off x="930756" y="7255890"/>
            <a:ext cx="2006017" cy="197651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824942" y="3383067"/>
            <a:ext cx="10328856" cy="867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075" spc="-64">
                <a:solidFill>
                  <a:srgbClr val="FFFFFE"/>
                </a:solidFill>
                <a:latin typeface="Glacial Indifference Bold"/>
              </a:rPr>
              <a:t> Functions:</a:t>
            </a:r>
          </a:p>
          <a:p>
            <a:pPr algn="l" marL="664001" indent="-332000" lvl="1">
              <a:lnSpc>
                <a:spcPts val="4305"/>
              </a:lnSpc>
              <a:buFont typeface="Arial"/>
              <a:buChar char="•"/>
            </a:pPr>
            <a:r>
              <a:rPr lang="en-US" sz="3075" spc="-64">
                <a:solidFill>
                  <a:srgbClr val="FFFFFE"/>
                </a:solidFill>
                <a:latin typeface="Glacial Indifference Semi-Bold"/>
              </a:rPr>
              <a:t>void loadCoursesFromFile(const string&amp; filePath)</a:t>
            </a:r>
          </a:p>
          <a:p>
            <a:pPr algn="l">
              <a:lnSpc>
                <a:spcPts val="4305"/>
              </a:lnSpc>
            </a:pPr>
            <a:r>
              <a:rPr lang="en-US" sz="3075" spc="-64">
                <a:solidFill>
                  <a:srgbClr val="FFFFFE"/>
                </a:solidFill>
                <a:latin typeface="Glacial Indifference"/>
              </a:rPr>
              <a:t>Loads course information from a specified file.</a:t>
            </a:r>
          </a:p>
          <a:p>
            <a:pPr algn="l" marL="664001" indent="-332000" lvl="1">
              <a:lnSpc>
                <a:spcPts val="4305"/>
              </a:lnSpc>
              <a:buFont typeface="Arial"/>
              <a:buChar char="•"/>
            </a:pPr>
            <a:r>
              <a:rPr lang="en-US" sz="3075" spc="-64">
                <a:solidFill>
                  <a:srgbClr val="FFFFFE"/>
                </a:solidFill>
                <a:latin typeface="Glacial Indifference Semi-Bold"/>
              </a:rPr>
              <a:t>void loadScoresFromFile(const string&amp; filePath)</a:t>
            </a:r>
          </a:p>
          <a:p>
            <a:pPr algn="l">
              <a:lnSpc>
                <a:spcPts val="4305"/>
              </a:lnSpc>
            </a:pPr>
            <a:r>
              <a:rPr lang="en-US" sz="3075" spc="-64">
                <a:solidFill>
                  <a:srgbClr val="FFFFFE"/>
                </a:solidFill>
                <a:latin typeface="Glacial Indifference Semi-Bold"/>
              </a:rPr>
              <a:t>Loads student scores from a specified file.</a:t>
            </a:r>
          </a:p>
          <a:p>
            <a:pPr algn="l" marL="664001" indent="-332000" lvl="1">
              <a:lnSpc>
                <a:spcPts val="4305"/>
              </a:lnSpc>
              <a:buFont typeface="Arial"/>
              <a:buChar char="•"/>
            </a:pPr>
            <a:r>
              <a:rPr lang="en-US" sz="3075" spc="-64">
                <a:solidFill>
                  <a:srgbClr val="FFFFFE"/>
                </a:solidFill>
                <a:latin typeface="Glacial Indifference Semi-Bold"/>
              </a:rPr>
              <a:t>void saveScoresToFile(const string&amp; filePath)</a:t>
            </a:r>
          </a:p>
          <a:p>
            <a:pPr algn="l">
              <a:lnSpc>
                <a:spcPts val="4305"/>
              </a:lnSpc>
            </a:pPr>
            <a:r>
              <a:rPr lang="en-US" sz="3075" spc="-64">
                <a:solidFill>
                  <a:srgbClr val="FFFFFE"/>
                </a:solidFill>
                <a:latin typeface="Glacial Indifference"/>
              </a:rPr>
              <a:t>Saves the current scores to a specified file.</a:t>
            </a:r>
          </a:p>
          <a:p>
            <a:pPr algn="l" marL="664001" indent="-332000" lvl="1">
              <a:lnSpc>
                <a:spcPts val="4305"/>
              </a:lnSpc>
              <a:buFont typeface="Arial"/>
              <a:buChar char="•"/>
            </a:pPr>
            <a:r>
              <a:rPr lang="en-US" sz="3075" spc="-64">
                <a:solidFill>
                  <a:srgbClr val="FFFFFE"/>
                </a:solidFill>
                <a:latin typeface="Glacial Indifference Semi-Bold"/>
              </a:rPr>
              <a:t>double computeGPAForEnteredScores(int totalCreditHours, double totalQualityPoints)</a:t>
            </a:r>
          </a:p>
          <a:p>
            <a:pPr algn="l">
              <a:lnSpc>
                <a:spcPts val="4305"/>
              </a:lnSpc>
            </a:pPr>
            <a:r>
              <a:rPr lang="en-US" sz="3075" spc="-64">
                <a:solidFill>
                  <a:srgbClr val="FFFFFE"/>
                </a:solidFill>
                <a:latin typeface="Glacial Indifference"/>
              </a:rPr>
              <a:t>Computes GPA based on the entered scores and credit hours.</a:t>
            </a: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236069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Student Class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95124" y="1028700"/>
            <a:ext cx="2006017" cy="197651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5279628">
            <a:off x="925011" y="787898"/>
            <a:ext cx="2006017" cy="1976517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400000">
            <a:off x="15268033" y="7495829"/>
            <a:ext cx="2006017" cy="197651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10710085">
            <a:off x="930756" y="7255890"/>
            <a:ext cx="2006017" cy="197651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824942" y="3383067"/>
            <a:ext cx="10328856" cy="9218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075" spc="-64">
                <a:solidFill>
                  <a:srgbClr val="FFFFFE"/>
                </a:solidFill>
                <a:latin typeface="Glacial Indifference Bold"/>
              </a:rPr>
              <a:t> Functions:</a:t>
            </a:r>
          </a:p>
          <a:p>
            <a:pPr algn="l" marL="664001" indent="-332000" lvl="1">
              <a:lnSpc>
                <a:spcPts val="4305"/>
              </a:lnSpc>
              <a:buFont typeface="Arial"/>
              <a:buChar char="•"/>
            </a:pPr>
            <a:r>
              <a:rPr lang="en-US" sz="3075" spc="-64">
                <a:solidFill>
                  <a:srgbClr val="FFFFFE"/>
                </a:solidFill>
                <a:latin typeface="Glacial Indifference Bold"/>
              </a:rPr>
              <a:t>void adminMenu(Student&amp; student)</a:t>
            </a:r>
          </a:p>
          <a:p>
            <a:pPr algn="l" marL="1328002" indent="-442667" lvl="2">
              <a:lnSpc>
                <a:spcPts val="4305"/>
              </a:lnSpc>
              <a:buFont typeface="Arial"/>
              <a:buChar char="⚬"/>
            </a:pPr>
            <a:r>
              <a:rPr lang="en-US" sz="3075" spc="-64">
                <a:solidFill>
                  <a:srgbClr val="FFFFFE"/>
                </a:solidFill>
                <a:latin typeface="Glacial Indifference"/>
              </a:rPr>
              <a:t>Pr</a:t>
            </a:r>
            <a:r>
              <a:rPr lang="en-US" sz="3075" spc="-64">
                <a:solidFill>
                  <a:srgbClr val="FFFFFE"/>
                </a:solidFill>
                <a:latin typeface="Glacial Indifference"/>
              </a:rPr>
              <a:t>ovides the admin menu for entering scores for a student.</a:t>
            </a:r>
          </a:p>
          <a:p>
            <a:pPr algn="l" marL="664001" indent="-332000" lvl="1">
              <a:lnSpc>
                <a:spcPts val="4305"/>
              </a:lnSpc>
              <a:buFont typeface="Arial"/>
              <a:buChar char="•"/>
            </a:pPr>
            <a:r>
              <a:rPr lang="en-US" sz="3075" spc="-64">
                <a:solidFill>
                  <a:srgbClr val="FFFFFE"/>
                </a:solidFill>
                <a:latin typeface="Glacial Indifference Bold"/>
              </a:rPr>
              <a:t>void studentMenu(Student&amp; student)</a:t>
            </a:r>
          </a:p>
          <a:p>
            <a:pPr algn="l" marL="1328002" indent="-442667" lvl="2">
              <a:lnSpc>
                <a:spcPts val="4305"/>
              </a:lnSpc>
              <a:buFont typeface="Arial"/>
              <a:buChar char="⚬"/>
            </a:pPr>
            <a:r>
              <a:rPr lang="en-US" sz="3075" spc="-64">
                <a:solidFill>
                  <a:srgbClr val="FFFFFE"/>
                </a:solidFill>
                <a:latin typeface="Glacial Indifference"/>
              </a:rPr>
              <a:t>Pro</a:t>
            </a:r>
            <a:r>
              <a:rPr lang="en-US" sz="3075" spc="-64">
                <a:solidFill>
                  <a:srgbClr val="FFFFFE"/>
                </a:solidFill>
                <a:latin typeface="Glacial Indifference"/>
              </a:rPr>
              <a:t>vides the student menu for viewing transcripts and computing GPA for entered scores.</a:t>
            </a:r>
          </a:p>
          <a:p>
            <a:pPr algn="l" marL="664001" indent="-332000" lvl="1">
              <a:lnSpc>
                <a:spcPts val="4305"/>
              </a:lnSpc>
              <a:buFont typeface="Arial"/>
              <a:buChar char="•"/>
            </a:pPr>
            <a:r>
              <a:rPr lang="en-US" sz="3075" spc="-64">
                <a:solidFill>
                  <a:srgbClr val="FFFFFE"/>
                </a:solidFill>
                <a:latin typeface="Glacial Indifference Bold"/>
              </a:rPr>
              <a:t>void mainMenu(Student&amp; student)</a:t>
            </a:r>
          </a:p>
          <a:p>
            <a:pPr algn="l" marL="1328002" indent="-442667" lvl="2">
              <a:lnSpc>
                <a:spcPts val="4305"/>
              </a:lnSpc>
              <a:buFont typeface="Arial"/>
              <a:buChar char="⚬"/>
            </a:pPr>
            <a:r>
              <a:rPr lang="en-US" sz="3075" spc="-64">
                <a:solidFill>
                  <a:srgbClr val="FFFFFE"/>
                </a:solidFill>
                <a:latin typeface="Glacial Indifference"/>
              </a:rPr>
              <a:t>Pr</a:t>
            </a:r>
            <a:r>
              <a:rPr lang="en-US" sz="3075" spc="-64">
                <a:solidFill>
                  <a:srgbClr val="FFFFFE"/>
                </a:solidFill>
                <a:latin typeface="Glacial Indifference"/>
              </a:rPr>
              <a:t>ovides the main menu for selecting between admin and student roles and performing respective operations</a:t>
            </a:r>
            <a:r>
              <a:rPr lang="en-US" sz="3075" spc="-64">
                <a:solidFill>
                  <a:srgbClr val="FFFFFE"/>
                </a:solidFill>
                <a:latin typeface="Glacial Indifference Bold"/>
              </a:rPr>
              <a:t>.</a:t>
            </a: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  <a:p>
            <a:pPr algn="l">
              <a:lnSpc>
                <a:spcPts val="430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236069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Menu Functions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true" flipV="false" rot="-2700000">
            <a:off x="11489082" y="678848"/>
            <a:ext cx="3065667" cy="276570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5162782">
            <a:off x="11300136" y="7852864"/>
            <a:ext cx="1701784" cy="216916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21748" y="4532346"/>
            <a:ext cx="8929204" cy="168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905" indent="-344452" lvl="1">
              <a:lnSpc>
                <a:spcPts val="4467"/>
              </a:lnSpc>
              <a:buAutoNum type="arabicPeriod" startAt="1"/>
            </a:pPr>
            <a:r>
              <a:rPr lang="en-US" sz="3190" spc="-67">
                <a:solidFill>
                  <a:srgbClr val="FFFFFE"/>
                </a:solidFill>
                <a:latin typeface="Glacial Indifference"/>
              </a:rPr>
              <a:t>To compile the program, use a C++ compiler</a:t>
            </a:r>
          </a:p>
          <a:p>
            <a:pPr algn="l" marL="688905" indent="-344452" lvl="1">
              <a:lnSpc>
                <a:spcPts val="4467"/>
              </a:lnSpc>
              <a:buAutoNum type="arabicPeriod" startAt="1"/>
            </a:pPr>
            <a:r>
              <a:rPr lang="en-US" sz="3190" spc="-67">
                <a:solidFill>
                  <a:srgbClr val="FFFFFE"/>
                </a:solidFill>
                <a:latin typeface="Glacial Indifference"/>
              </a:rPr>
              <a:t>Ensure that all the source code is in a file named main.cpp.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43000"/>
            <a:ext cx="8115300" cy="13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5000" spc="-105">
                <a:solidFill>
                  <a:srgbClr val="FFFFFE"/>
                </a:solidFill>
                <a:latin typeface="Glacial Indifference Bold"/>
              </a:rPr>
              <a:t>Instructions for Compiling and Running the Program</a:t>
            </a:r>
          </a:p>
          <a:p>
            <a:pPr algn="l">
              <a:lnSpc>
                <a:spcPts val="114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true" flipV="false" rot="-2700000">
            <a:off x="797213" y="1057592"/>
            <a:ext cx="3065667" cy="2765709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8178418" y="5143500"/>
            <a:ext cx="12672845" cy="2593665"/>
          </a:xfrm>
          <a:custGeom>
            <a:avLst/>
            <a:gdLst/>
            <a:ahLst/>
            <a:cxnLst/>
            <a:rect r="r" b="b" t="t" l="l"/>
            <a:pathLst>
              <a:path h="2593665" w="12672845">
                <a:moveTo>
                  <a:pt x="0" y="0"/>
                </a:moveTo>
                <a:lnTo>
                  <a:pt x="12672844" y="0"/>
                </a:lnTo>
                <a:lnTo>
                  <a:pt x="12672844" y="2593665"/>
                </a:lnTo>
                <a:lnTo>
                  <a:pt x="0" y="2593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144041" y="1400017"/>
            <a:ext cx="276856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-105">
                <a:solidFill>
                  <a:srgbClr val="FFFFFF"/>
                </a:solidFill>
                <a:latin typeface="Glacial Indifference Bold"/>
              </a:rPr>
              <a:t>Input files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01722" y="3504335"/>
            <a:ext cx="10605612" cy="26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977" indent="-280988" lvl="1">
              <a:lnSpc>
                <a:spcPts val="3644"/>
              </a:lnSpc>
              <a:buFont typeface="Arial"/>
              <a:buChar char="•"/>
            </a:pPr>
            <a:r>
              <a:rPr lang="en-US" sz="2602" spc="-54">
                <a:solidFill>
                  <a:srgbClr val="FFFFFF"/>
                </a:solidFill>
                <a:latin typeface="Glacial Indifference"/>
              </a:rPr>
              <a:t>courses.txt: This file should contain the list of courses and their credit hours</a:t>
            </a:r>
          </a:p>
          <a:p>
            <a:pPr algn="l">
              <a:lnSpc>
                <a:spcPts val="3644"/>
              </a:lnSpc>
            </a:pPr>
          </a:p>
          <a:p>
            <a:pPr algn="l">
              <a:lnSpc>
                <a:spcPts val="3644"/>
              </a:lnSpc>
            </a:pPr>
            <a:r>
              <a:rPr lang="en-US" sz="2602" spc="-54">
                <a:solidFill>
                  <a:srgbClr val="FFFFFF"/>
                </a:solidFill>
                <a:latin typeface="Glacial Indifference Bold"/>
              </a:rPr>
              <a:t>Example format:</a:t>
            </a:r>
          </a:p>
          <a:p>
            <a:pPr algn="ctr">
              <a:lnSpc>
                <a:spcPts val="3644"/>
              </a:lnSpc>
            </a:pPr>
          </a:p>
          <a:p>
            <a:pPr algn="ctr">
              <a:lnSpc>
                <a:spcPts val="3644"/>
              </a:lnSpc>
            </a:pPr>
          </a:p>
          <a:p>
            <a:pPr algn="ctr">
              <a:lnSpc>
                <a:spcPts val="32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689633" y="1028700"/>
            <a:ext cx="11196735" cy="8229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26998" y="1740091"/>
            <a:ext cx="11164308" cy="672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5"/>
              </a:lnSpc>
            </a:pPr>
            <a:r>
              <a:rPr lang="en-US" sz="4539" spc="-95">
                <a:solidFill>
                  <a:srgbClr val="FFFFFE"/>
                </a:solidFill>
                <a:latin typeface="Glacial Indifference Bold"/>
              </a:rPr>
              <a:t>Program Execution</a:t>
            </a:r>
          </a:p>
          <a:p>
            <a:pPr algn="l" marL="800323" indent="-400161" lvl="1">
              <a:lnSpc>
                <a:spcPts val="5189"/>
              </a:lnSpc>
              <a:buAutoNum type="arabicPeriod" startAt="1"/>
            </a:pP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Enter the student ID .</a:t>
            </a:r>
          </a:p>
          <a:p>
            <a:pPr algn="l" marL="800323" indent="-400161" lvl="1">
              <a:lnSpc>
                <a:spcPts val="5189"/>
              </a:lnSpc>
              <a:buAutoNum type="arabicPeriod" startAt="1"/>
            </a:pP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Select the user type (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Admin 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or S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tu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d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e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nt).</a:t>
            </a:r>
          </a:p>
          <a:p>
            <a:pPr algn="l" marL="800323" indent="-400161" lvl="1">
              <a:lnSpc>
                <a:spcPts val="5189"/>
              </a:lnSpc>
              <a:buAutoNum type="arabicPeriod" startAt="1"/>
            </a:pP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As an Admin, e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nter scores for courses in a specified semester.</a:t>
            </a:r>
          </a:p>
          <a:p>
            <a:pPr algn="l" marL="800323" indent="-400161" lvl="1">
              <a:lnSpc>
                <a:spcPts val="5189"/>
              </a:lnSpc>
              <a:buAutoNum type="arabicPeriod" startAt="1"/>
            </a:pP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As a 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Student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,</a:t>
            </a: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 view the transcript and calculate GPA for entered scores if desired.</a:t>
            </a:r>
          </a:p>
          <a:p>
            <a:pPr algn="l" marL="800323" indent="-400161" lvl="1">
              <a:lnSpc>
                <a:spcPts val="5189"/>
              </a:lnSpc>
              <a:buAutoNum type="arabicPeriod" startAt="1"/>
            </a:pPr>
            <a:r>
              <a:rPr lang="en-US" sz="3706" spc="-77">
                <a:solidFill>
                  <a:srgbClr val="FFFFFE"/>
                </a:solidFill>
                <a:latin typeface="Glacial Indifference"/>
              </a:rPr>
              <a:t>The program reads and writes to the courses.txt and students.txt files for loading and saving data.</a:t>
            </a:r>
          </a:p>
          <a:p>
            <a:pPr algn="l">
              <a:lnSpc>
                <a:spcPts val="5585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08112"/>
            <a:ext cx="18581949" cy="10452346"/>
          </a:xfrm>
          <a:custGeom>
            <a:avLst/>
            <a:gdLst/>
            <a:ahLst/>
            <a:cxnLst/>
            <a:rect r="r" b="b" t="t" l="l"/>
            <a:pathLst>
              <a:path h="10452346" w="18581949">
                <a:moveTo>
                  <a:pt x="0" y="0"/>
                </a:moveTo>
                <a:lnTo>
                  <a:pt x="18581949" y="0"/>
                </a:lnTo>
                <a:lnTo>
                  <a:pt x="18581949" y="10452347"/>
                </a:lnTo>
                <a:lnTo>
                  <a:pt x="0" y="10452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70169" y="165100"/>
            <a:ext cx="414766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-105">
                <a:solidFill>
                  <a:srgbClr val="FFFFFF"/>
                </a:solidFill>
                <a:latin typeface="Glacial Indifference Bold"/>
              </a:rPr>
              <a:t>Sample output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45624" y="3755088"/>
            <a:ext cx="10356272" cy="2137317"/>
          </a:xfrm>
          <a:custGeom>
            <a:avLst/>
            <a:gdLst/>
            <a:ahLst/>
            <a:cxnLst/>
            <a:rect r="r" b="b" t="t" l="l"/>
            <a:pathLst>
              <a:path h="2137317" w="10356272">
                <a:moveTo>
                  <a:pt x="0" y="0"/>
                </a:moveTo>
                <a:lnTo>
                  <a:pt x="10356272" y="0"/>
                </a:lnTo>
                <a:lnTo>
                  <a:pt x="10356272" y="2137317"/>
                </a:lnTo>
                <a:lnTo>
                  <a:pt x="0" y="2137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44211" y="544513"/>
            <a:ext cx="899957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-105">
                <a:solidFill>
                  <a:srgbClr val="FFFFFF"/>
                </a:solidFill>
                <a:latin typeface="Glacial Indifference Bold"/>
              </a:rPr>
              <a:t>Sample file output (students.txt)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4247502" y="2732003"/>
            <a:ext cx="9659646" cy="521620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872840" y="4333504"/>
            <a:ext cx="8542321" cy="158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81"/>
              </a:lnSpc>
            </a:pPr>
            <a:r>
              <a:rPr lang="en-US" sz="12296" spc="-258">
                <a:solidFill>
                  <a:srgbClr val="FFFFFE"/>
                </a:solidFill>
                <a:latin typeface="Glacial Indifferen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DAGGcLZVRMQ</dc:identifier>
  <dcterms:modified xsi:type="dcterms:W3CDTF">2011-08-01T06:04:30Z</dcterms:modified>
  <cp:revision>1</cp:revision>
  <dc:title>Black White Sketchy Chalkboard Ideas Community Welcome Information Session Presentation</dc:title>
</cp:coreProperties>
</file>